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396c67c9a84bed" /><Relationship Type="http://schemas.openxmlformats.org/officeDocument/2006/relationships/extended-properties" Target="/docProps/app.xml" Id="R0aaa5af910aa46c0" /><Relationship Type="http://schemas.openxmlformats.org/officeDocument/2006/relationships/officeDocument" Target="/ppt/presentation.xml" Id="Rbd3b60efb84547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829edcca124b09"/>
  </p:sldMasterIdLst>
  <p:notesMasterIdLst>
    <p:notesMasterId xmlns:r="http://schemas.openxmlformats.org/officeDocument/2006/relationships" r:id="R3c8a2d4da30048c8"/>
  </p:notesMasterIdLst>
  <p:sldIdLst>
    <p:sldId xmlns:r="http://schemas.openxmlformats.org/officeDocument/2006/relationships" id="256" r:id="R528eebb240a348d1"/>
    <p:sldId xmlns:r="http://schemas.openxmlformats.org/officeDocument/2006/relationships" id="257" r:id="R03c995d7d88f465f"/>
    <p:sldId xmlns:r="http://schemas.openxmlformats.org/officeDocument/2006/relationships" id="258" r:id="R7f473d302f9c449e"/>
    <p:sldId xmlns:r="http://schemas.openxmlformats.org/officeDocument/2006/relationships" id="259" r:id="R5924224ce7f94043"/>
    <p:sldId xmlns:r="http://schemas.openxmlformats.org/officeDocument/2006/relationships" id="260" r:id="Rcd88d28249d846e1"/>
    <p:sldId xmlns:r="http://schemas.openxmlformats.org/officeDocument/2006/relationships" id="261" r:id="R9193a648c7d64933"/>
    <p:sldId xmlns:r="http://schemas.openxmlformats.org/officeDocument/2006/relationships" id="262" r:id="R929aac17eb764e84"/>
    <p:sldId xmlns:r="http://schemas.openxmlformats.org/officeDocument/2006/relationships" id="263" r:id="Rb4700c22bc5a48e1"/>
    <p:sldId xmlns:r="http://schemas.openxmlformats.org/officeDocument/2006/relationships" id="264" r:id="Rb13422d67a21497d"/>
    <p:sldId xmlns:r="http://schemas.openxmlformats.org/officeDocument/2006/relationships" id="265" r:id="R700858c18d3644fe"/>
    <p:sldId xmlns:r="http://schemas.openxmlformats.org/officeDocument/2006/relationships" id="266" r:id="R95469fb23c324c15"/>
    <p:sldId xmlns:r="http://schemas.openxmlformats.org/officeDocument/2006/relationships" id="267" r:id="Ra48dca379fbc44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45ce17196c4044" /><Relationship Type="http://schemas.openxmlformats.org/officeDocument/2006/relationships/slideMaster" Target="/ppt/slideMasters/slideMaster1.xml" Id="R98829edcca124b09" /><Relationship Type="http://schemas.openxmlformats.org/officeDocument/2006/relationships/notesMaster" Target="/ppt/notesMasters/notesMaster1.xml" Id="R3c8a2d4da30048c8" /><Relationship Type="http://schemas.openxmlformats.org/officeDocument/2006/relationships/presProps" Target="/ppt/presProps.xml" Id="R5d3dbbf5f0ac4d4c" /><Relationship Type="http://schemas.openxmlformats.org/officeDocument/2006/relationships/tableStyles" Target="/ppt/tableStyles.xml" Id="Rebfccfdcf746461d" /><Relationship Type="http://schemas.openxmlformats.org/officeDocument/2006/relationships/slide" Target="/ppt/slides/slide1.xml" Id="R528eebb240a348d1" /><Relationship Type="http://schemas.openxmlformats.org/officeDocument/2006/relationships/slide" Target="/ppt/slides/slide2.xml" Id="R03c995d7d88f465f" /><Relationship Type="http://schemas.openxmlformats.org/officeDocument/2006/relationships/slide" Target="/ppt/slides/slide3.xml" Id="R7f473d302f9c449e" /><Relationship Type="http://schemas.openxmlformats.org/officeDocument/2006/relationships/slide" Target="/ppt/slides/slide4.xml" Id="R5924224ce7f94043" /><Relationship Type="http://schemas.openxmlformats.org/officeDocument/2006/relationships/slide" Target="/ppt/slides/slide5.xml" Id="Rcd88d28249d846e1" /><Relationship Type="http://schemas.openxmlformats.org/officeDocument/2006/relationships/slide" Target="/ppt/slides/slide6.xml" Id="R9193a648c7d64933" /><Relationship Type="http://schemas.openxmlformats.org/officeDocument/2006/relationships/slide" Target="/ppt/slides/slide7.xml" Id="R929aac17eb764e84" /><Relationship Type="http://schemas.openxmlformats.org/officeDocument/2006/relationships/slide" Target="/ppt/slides/slide8.xml" Id="Rb4700c22bc5a48e1" /><Relationship Type="http://schemas.openxmlformats.org/officeDocument/2006/relationships/slide" Target="/ppt/slides/slide9.xml" Id="Rb13422d67a21497d" /><Relationship Type="http://schemas.openxmlformats.org/officeDocument/2006/relationships/slide" Target="/ppt/slides/slide10.xml" Id="R700858c18d3644fe" /><Relationship Type="http://schemas.openxmlformats.org/officeDocument/2006/relationships/slide" Target="/ppt/slides/slide11.xml" Id="R95469fb23c324c15" /><Relationship Type="http://schemas.openxmlformats.org/officeDocument/2006/relationships/slide" Target="/ppt/slides/slide12.xml" Id="Ra48dca379fbc44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6d0ca07ce74e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1f9cd15b794329" /><Relationship Type="http://schemas.openxmlformats.org/officeDocument/2006/relationships/notesMaster" Target="/ppt/notesMasters/notesMaster1.xml" Id="R97cdd8cde02b42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5cb647d13e475b" /><Relationship Type="http://schemas.openxmlformats.org/officeDocument/2006/relationships/notesMaster" Target="/ppt/notesMasters/notesMaster1.xml" Id="R860f7a9175fb4b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a1e072c4624b07" /><Relationship Type="http://schemas.openxmlformats.org/officeDocument/2006/relationships/notesMaster" Target="/ppt/notesMasters/notesMaster1.xml" Id="R65999825379748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a2bc6aa0b040ca" /><Relationship Type="http://schemas.openxmlformats.org/officeDocument/2006/relationships/notesMaster" Target="/ppt/notesMasters/notesMaster1.xml" Id="Rf39db782144d43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b654c029024334" /><Relationship Type="http://schemas.openxmlformats.org/officeDocument/2006/relationships/notesMaster" Target="/ppt/notesMasters/notesMaster1.xml" Id="R1b765adcfa964d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d5cb2f44f34f83" /><Relationship Type="http://schemas.openxmlformats.org/officeDocument/2006/relationships/notesMaster" Target="/ppt/notesMasters/notesMaster1.xml" Id="R0c0bd81241cc4e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a0c8d3844e4273" /><Relationship Type="http://schemas.openxmlformats.org/officeDocument/2006/relationships/notesMaster" Target="/ppt/notesMasters/notesMaster1.xml" Id="Ra0f2e7e8d1a148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0ee929d3054853" /><Relationship Type="http://schemas.openxmlformats.org/officeDocument/2006/relationships/notesMaster" Target="/ppt/notesMasters/notesMaster1.xml" Id="Rc7cbfc23736942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9436829c294c0b" /><Relationship Type="http://schemas.openxmlformats.org/officeDocument/2006/relationships/notesMaster" Target="/ppt/notesMasters/notesMaster1.xml" Id="R3680ad4142284c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5a0e7c50484a66" /><Relationship Type="http://schemas.openxmlformats.org/officeDocument/2006/relationships/notesMaster" Target="/ppt/notesMasters/notesMaster1.xml" Id="Rff2f0370f77048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bee682b2ff4a7c" /><Relationship Type="http://schemas.openxmlformats.org/officeDocument/2006/relationships/notesMaster" Target="/ppt/notesMasters/notesMaster1.xml" Id="R66a8d601bc7c48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1a3c0447bf4815" /><Relationship Type="http://schemas.openxmlformats.org/officeDocument/2006/relationships/notesMaster" Target="/ppt/notesMasters/notesMaster1.xml" Id="R32bf752d58034b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кейс «Умный город», стр. 6–13; исходники smart-city-bot, PRODUCT-VISION.md, QA-REPORT.md, REVIEWER-GUIDE.md. Состояние проверок: 27 сентября 2026. Интервью и измерения эффекта пока не проведены. Кейс требует технический первый слайд. Вместо публичного Git передан архив с контрольной суммой согласно стр. 9. В боевом MAX роли назначаются по аккаунтам, учебные роли доступны локально. Для проверки боевого жителя требуется приглашение. Рабочие секреты не публикуются.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кейс «Умный город», стр. 6–13; исходники smart-city-bot, PRODUCT-VISION.md, QA-REPORT.md, REVIEWER-GUIDE.md. Состояние проверок: 27 сентября 2026. Интервью и измерения эффекта пока не проведены. Концептуальный городской фон создан ImageGen для обложки, не фото реализованного объекта. Арт-направление: https://www.behance.net/gallery/239923783/Launch-Event-Visual-Identity-Key-Visuals-Case-Study . Имена по указанию пользователя 28 сентября.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кейс «Умный город», стр. 6–13; исходники smart-city-bot, PRODUCT-VISION.md, QA-REPORT.md, REVIEWER-GUIDE.md. Состояние проверок: 27 сентября 2026. Интервью и измерения эффекта пока не проведены. Исходное наблюдение команды: приходилось звонить и выяснять причину отключения воды. Не представлять это наблюдение как исследование рынка. Целевая аудитория: жители многоквартирных домов и сотрудники УК.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кейс «Умный город», стр. 6–13; исходники smart-city-bot, PRODUCT-VISION.md, QA-REPORT.md, REVIEWER-GUIDE.md. Состояние проверок: 27 сентября 2026. Интервью и измерения эффекта пока не проведены.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кейс «Умный город», стр. 6–13; исходники smart-city-bot, PRODUCT-VISION.md, QA-REPORT.md, REVIEWER-GUIDE.md. Состояние проверок: 27 сентября 2026. Интервью и измерения эффекта пока не проведены.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кейс «Умный город», стр. 6–13; исходники smart-city-bot, PRODUCT-VISION.md, QA-REPORT.md, REVIEWER-GUIDE.md. Состояние проверок: 27 сентября 2026. Интервью и измерения эффекта пока не проведены. Реальный экран локального демо: авария может охватывать несколько домов, личная заявка связывается с общей аварией. Обновления исходят от УК, не от МЧС. Гипотеза: меньше повторных вопросов, эффект не измерен.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кейс «Умный город», стр. 6–13; исходники smart-city-bot, PRODUCT-VISION.md, QA-REPORT.md, REVIEWER-GUIDE.md. Состояние проверок: 27 сентября 2026. Интервью и измерения эффекта пока не проведены. Сценарий учебного диспетчера реализован локально. На публичном сервере TRAINING_INCIDENTS_ENABLED=0. Внешние государственные системы не подключены. Это направление развития, не действующий экстренный канал.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кейс «Умный город», стр. 6–13; исходники smart-city-bot, PRODUCT-VISION.md, QA-REPORT.md, REVIEWER-GUIDE.md. Состояние проверок: 27 сентября 2026. Интервью и измерения эффекта пока не проведены. Архитектура по miniapp.py, store.py, bot.py, notify_outbox.py, compose.yaml. Реальная внешняя интеграция: MAX API. Данные создаются участниками или из тестовых fixtures. SQLite общая для двух интерфейсов.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кейс «Умный город», стр. 6–13; исходники smart-city-bot, PRODUCT-VISION.md, QA-REPORT.md, REVIEWER-GUIDE.md. Состояние проверок: 27 сентября 2026. Интервью и измерения эффекта пока не проведены. План тиражирования, не существующие внедрения. Текущее ограничение: все ADMIN_IDS относятся к одной УК, полноценной изоляции организаций пока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кейс «Умный город», стр. 6–13; исходники smart-city-bot, PRODUCT-VISION.md, QA-REPORT.md, REVIEWER-GUIDE.md. Состояние проверок: 27 сентября 2026. Интервью и измерения эффекта пока не проведены.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кейс «Умный город», стр. 6–13; исходники smart-city-bot, PRODUCT-VISION.md, QA-REPORT.md, REVIEWER-GUIDE.md. Состояние проверок: 27 сентября 2026. Интервью и измерения эффекта пока не проведены. Числа относятся к последним зафиксированным локальным проверкам из QA-REPORT.md, не к промышленной нагрузке. Дата: 27 сентября. Полный сценарий с отдельным реальным жителем и мобильным MAX ещё не проверен.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кейс «Умный город», стр. 6–13; исходники smart-city-bot, PRODUCT-VISION.md, QA-REPORT.md, REVIEWER-GUIDE.md. Состояние проверок: 27 сентября 2026. Интервью и измерения эффекта пока не проведены. Источники: пользовательский кейс «Умный город», стр. 6–13; PRODUCT-VISION.md; QA-REPORT.md; REVIEWER-GUIDE.md; снимки локального демо 28 сентября 2026. Визуальный референс: https://www.behance.net/gallery/239923783/Launch-Event-Visual-Identity-Key-Visuals-Case-Study . Городской фон: концептуальная иллюстрация ImageGen, не фотография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3c009b2a94d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9edd6f4cd34f4f" /><Relationship Type="http://schemas.openxmlformats.org/officeDocument/2006/relationships/slideLayout" Target="/ppt/slideLayouts/slideLayout1.xml" Id="R5ac71f9e50554a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c71f9e50554a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2a48bdf4d44bf" /><Relationship Type="http://schemas.openxmlformats.org/officeDocument/2006/relationships/notesSlide" Target="/ppt/notesSlides/notesSlide1.xml" Id="Rbb0547800e6449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9acb515904549" /><Relationship Type="http://schemas.openxmlformats.org/officeDocument/2006/relationships/image" Target="/ppt/media/image.png" Id="Rd4877e4d21304c30" /><Relationship Type="http://schemas.openxmlformats.org/officeDocument/2006/relationships/notesSlide" Target="/ppt/notesSlides/notesSlide2.xml" Id="R54d224551dd24b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71e834ec34924" /><Relationship Type="http://schemas.openxmlformats.org/officeDocument/2006/relationships/notesSlide" Target="/ppt/notesSlides/notesSlide3.xml" Id="R996bf3f806fe49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0349043314f38" /><Relationship Type="http://schemas.openxmlformats.org/officeDocument/2006/relationships/image" Target="/ppt/media/image.jpeg" Id="R8bc945a06f2345e7" /><Relationship Type="http://schemas.openxmlformats.org/officeDocument/2006/relationships/notesSlide" Target="/ppt/notesSlides/notesSlide4.xml" Id="R76f7404d235842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3c41480e04c3b" /><Relationship Type="http://schemas.openxmlformats.org/officeDocument/2006/relationships/image" Target="/ppt/media/image2.jpeg" Id="R1b3d6fb361634805" /><Relationship Type="http://schemas.openxmlformats.org/officeDocument/2006/relationships/notesSlide" Target="/ppt/notesSlides/notesSlide5.xml" Id="Rf33b0fc206c24b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15669bf4449d1" /><Relationship Type="http://schemas.openxmlformats.org/officeDocument/2006/relationships/image" Target="/ppt/media/image3.jpeg" Id="Rdc596d28b0e74f31" /><Relationship Type="http://schemas.openxmlformats.org/officeDocument/2006/relationships/notesSlide" Target="/ppt/notesSlides/notesSlide6.xml" Id="R4fe2918e2ca945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adac773ce40f4" /><Relationship Type="http://schemas.openxmlformats.org/officeDocument/2006/relationships/notesSlide" Target="/ppt/notesSlides/notesSlide7.xml" Id="R6a2ec035515947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b395220714f12" /><Relationship Type="http://schemas.openxmlformats.org/officeDocument/2006/relationships/notesSlide" Target="/ppt/notesSlides/notesSlide8.xml" Id="Rbc8882e36cf14a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1498e27a541dc" /><Relationship Type="http://schemas.openxmlformats.org/officeDocument/2006/relationships/notesSlide" Target="/ppt/notesSlides/notesSlide9.xml" Id="R97e0542fc46448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e97d5730a4f25" /><Relationship Type="http://schemas.openxmlformats.org/officeDocument/2006/relationships/notesSlide" Target="/ppt/notesSlides/notesSlide10.xml" Id="R06f2153cf5f049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c709c87164b5b" /><Relationship Type="http://schemas.openxmlformats.org/officeDocument/2006/relationships/notesSlide" Target="/ppt/notesSlides/notesSlide11.xml" Id="Rf2413703c2e04c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bf5362d16460a" /><Relationship Type="http://schemas.openxmlformats.org/officeDocument/2006/relationships/image" Target="/ppt/media/image2.png" Id="R64d03c6d24004a1f" /><Relationship Type="http://schemas.openxmlformats.org/officeDocument/2006/relationships/notesSlide" Target="/ppt/notesSlides/notesSlide12.xml" Id="R2b69597231674e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26FD4-1550-4983-9C9F-17E89856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3900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Проверка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6E649-0144-4465-B198-39EBD188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1525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Служебный слайд для жюри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C47A4-1C18-4BE3-B1D0-710FB29F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MAX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16FF4-81AE-49C3-9D62-E48EBA0C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71650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max.ru/t738_hakaton_max_bot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E3044-D5DF-4673-9605-A5832C19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Миниаппа /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46E87-2CF9-47D4-B95E-7ECB988C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52675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https://domovoy-doma.ru/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8C0BE-E3BE-4DAF-A820-F5788DC7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38450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Вход через кнопку миниаппы в боте. Авторизация аккаунтом MAX.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82A24-A1E5-46BE-BF09-00AFD26D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Исходники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965FC-CA76-424D-A21C-C6A90E4E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8137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Архив решения + SHA256</a:t>
            </a:r>
          </a:p>
          <a:p xmlns:a="http://schemas.openxmlformats.org/drawingml/2006/main">
            <a:pPr>
              <a:defRPr sz="2025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Ревизия в SOURCE-REVISION.txt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F1EBC-388A-4235-A519-9194451C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Проверка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42DC6-99DD-42B1-9047-BEDC918D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196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Приглашение в подъезд · заявка · ответ УК · подтверждение жителем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8EB9E-3CA4-4589-96EC-ABD4E833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86375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Локальные роли и запуск: smart-city-bot/REVIEWER-GUIDE.md</a:t>
            </a:r>
          </a:p>
          <a:p xmlns:a="http://schemas.openxmlformats.org/drawingml/2006/main">
            <a:pPr>
              <a:defRPr sz="1650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Параметры: .env.example. Рабочие ключи в публичный пакет не входят.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CC566-7126-4411-A3B0-B6E76105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ДОМОВОЙ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76967-5128-46DB-B9F0-26D007B5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01802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77e4d21304c3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552CD-F5F8-4D04-B8AE-04026277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MAX / УМНЫЙ ГОРОД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1E719-1E56-4E4F-9875-ACE88429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5925"/>
            <a:ext cx="7429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700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8700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Домовой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4DAE1-DA01-4FC4-82FC-9BA11B65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00400"/>
            <a:ext cx="714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Ваш дом на связи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5F2B1-F32B-4762-B170-92DC674B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5D0E5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D5D0E5"/>
                </a:solidFill>
                <a:latin typeface="Noto Sans"/>
                <a:ea typeface="Noto Sans"/>
                <a:cs typeface="Noto Sans"/>
              </a:rPr>
              <a:t>Заявки, отключения и ответы УК</a:t>
            </a:r>
          </a:p>
          <a:p xmlns:a="http://schemas.openxmlformats.org/drawingml/2006/main">
            <a:pPr>
              <a:defRPr sz="2250" b="0">
                <a:solidFill>
                  <a:srgbClr val="D5D0E5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D5D0E5"/>
                </a:solidFill>
                <a:latin typeface="Noto Sans"/>
                <a:ea typeface="Noto Sans"/>
                <a:cs typeface="Noto Sans"/>
              </a:rPr>
              <a:t>внутри привычного мессенджера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65EE1-909D-4BA8-A1A3-2F003127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salfetka5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D1D34-9E43-40EB-A78D-9A32202C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2457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Фатькин Артем  /  Дзюбло Григорий</a:t>
            </a:r>
          </a:p>
        </p:txBody>
      </p:sp>
    </p:spTree>
    <p:extLst>
      <p:ext uri="{BB962C8B-B14F-4D97-AF65-F5344CB8AC3E}">
        <p14:creationId xmlns:p14="http://schemas.microsoft.com/office/powerpoint/2010/main" val="16806909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6942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FBEAB-50AA-4CD6-821F-69EB7C89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76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850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Когда дома пропала вода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ACB6B-B73D-4C01-8AE2-C75EE6F3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07632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5700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Что случилось?</a:t>
            </a:r>
          </a:p>
          <a:p xmlns:a="http://schemas.openxmlformats.org/drawingml/2006/main">
            <a:pPr>
              <a:defRPr sz="5700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5700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Кто занимается?</a:t>
            </a:r>
          </a:p>
          <a:p xmlns:a="http://schemas.openxmlformats.org/drawingml/2006/main">
            <a:pPr>
              <a:defRPr sz="5700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5700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Когда вернут?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293C7-13BE-4241-B960-5D45BA62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EE7FF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EEE7FF"/>
                </a:solidFill>
                <a:latin typeface="Noto Sans"/>
                <a:ea typeface="Noto Sans"/>
                <a:cs typeface="Noto Sans"/>
              </a:rPr>
              <a:t>Жителю нужен понятный статус.</a:t>
            </a:r>
          </a:p>
          <a:p xmlns:a="http://schemas.openxmlformats.org/drawingml/2006/main">
            <a:pPr>
              <a:defRPr sz="2025" b="0">
                <a:solidFill>
                  <a:srgbClr val="EEE7FF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EEE7FF"/>
                </a:solidFill>
                <a:latin typeface="Noto Sans"/>
                <a:ea typeface="Noto Sans"/>
                <a:cs typeface="Noto Sans"/>
              </a:rPr>
              <a:t>УК нужно собрать обращения и обновлять информацию в одном месте.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0EAC2-0D70-4C80-924C-73C028F6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CB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D8CBFF"/>
                </a:solidFill>
                <a:latin typeface="Noto Sans"/>
                <a:ea typeface="Noto Sans"/>
                <a:cs typeface="Noto Sans"/>
              </a:rPr>
              <a:t>ДОМОВОЙ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2240B-3391-4821-A46D-6E9E1F28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8CBFF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D8CBFF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31607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41435-42D8-4132-876D-580A44F0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3975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Дом и подъезд</a:t>
            </a:r>
          </a:p>
          <a:p xmlns:a="http://schemas.openxmlformats.org/drawingml/2006/main">
            <a:pPr>
              <a:defRPr sz="3975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3975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в одном месте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E6382-3B45-41AD-8D49-4C94946E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4114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Житель входит по приглашению</a:t>
            </a:r>
          </a:p>
          <a:p xmlns:a="http://schemas.openxmlformats.org/drawingml/2006/main">
            <a:pPr>
              <a:defRPr sz="2100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и видит свои объявления,</a:t>
            </a:r>
          </a:p>
          <a:p xmlns:a="http://schemas.openxmlformats.org/drawingml/2006/main">
            <a:pPr>
              <a:defRPr sz="2100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обсуждения и заявки.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0D580-28A7-4ADB-820D-2ED1628E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5815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Бот + миниаппа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3DA24-2378-49C6-80BE-73352D8E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1149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Общие данные и история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945a06f2345e7"/>
          <a:stretch xmlns:a="http://schemas.openxmlformats.org/drawingml/2006/main"/>
        </p:blipFill>
        <p:spPr>
          <a:xfrm xmlns:a="http://schemas.openxmlformats.org/drawingml/2006/main">
            <a:off x="4886325" y="1362968"/>
            <a:ext cx="6905625" cy="388441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F306B-54B7-4009-8BD4-286DB6F2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4673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Экран локального демо. Адреса и жители вымышлены.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A680C-2101-4767-9A85-0D561E9F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ДОМОВОЙ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9AA5A-9FFF-499A-A206-64FD1240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784252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82377-79CA-45D8-96F7-B1354572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1114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Результат подтверждает житель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d6fb361634805"/>
          <a:srcRect xmlns:a="http://schemas.openxmlformats.org/drawingml/2006/main" l="21875" t="13611" r="2813" b="19722"/>
          <a:stretch xmlns:a="http://schemas.openxmlformats.org/drawingml/2006/main"/>
        </p:blipFill>
        <p:spPr>
          <a:xfrm xmlns:a="http://schemas.openxmlformats.org/drawingml/2006/main">
            <a:off x="542925" y="1819275"/>
            <a:ext cx="7067550" cy="39719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958ED-51E0-4CF5-A61F-77149A79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74307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2475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E5CB2-E98D-4B48-9B47-1CBCF7F4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790700"/>
            <a:ext cx="2876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Заявка по дому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10617-257C-497C-8402-F4348ABF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384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2475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C4765-EB1D-435C-950D-F569CBB0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76525"/>
            <a:ext cx="2876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УК берёт в работу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DD626-E5E5-4545-9DA3-9602BFBB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57187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2475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55563-48C7-4506-87DB-22509016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19500"/>
            <a:ext cx="2876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Отчёт о ремонте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8F619-5AC4-4032-85A4-276B17CF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5339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DDFB8B"/>
                </a:solidFill>
                <a:latin typeface="Noto Sans"/>
                <a:ea typeface="Noto Sans"/>
                <a:cs typeface="Noto Sans"/>
              </a:defRPr>
            </a:pPr>
            <a:r>
              <a:rPr sz="2475" b="1">
                <a:solidFill>
                  <a:srgbClr val="DDFB8B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7461D-2022-45AC-8834-20E7F40E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562475"/>
            <a:ext cx="2876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Подтвердить</a:t>
            </a:r>
          </a:p>
          <a:p xmlns:a="http://schemas.openxmlformats.org/drawingml/2006/main">
            <a:pPr>
              <a:defRPr sz="2025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или вернуть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0D83B-1F64-41E2-ABDB-B07D6D24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9597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Реальная история учебной заявки в локальном демо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AA1F9-DBB8-454F-9F48-03FBEAB8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ДОМОВОЙ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B10EF-17BB-4E8F-89F9-5531F0AA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5163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3E65B-BE14-48BF-B81F-FDA19B0E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44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3975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Одна авария. Общий статус.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96d28b0e74f31"/>
          <a:srcRect xmlns:a="http://schemas.openxmlformats.org/drawingml/2006/main" l="22344" t="45000" r="3281" b="1389"/>
          <a:stretch xmlns:a="http://schemas.openxmlformats.org/drawingml/2006/main"/>
        </p:blipFill>
        <p:spPr>
          <a:xfrm xmlns:a="http://schemas.openxmlformats.org/drawingml/2006/main">
            <a:off x="4667250" y="2343150"/>
            <a:ext cx="7105650" cy="28765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FDB3D-A243-4DAE-856E-53DA09F6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43100"/>
            <a:ext cx="3724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2850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Причина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70011-CF94-43A9-B5C6-C1F268E3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361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Что произошло с водой</a:t>
            </a:r>
          </a:p>
          <a:p xmlns:a="http://schemas.openxmlformats.org/drawingml/2006/main">
            <a:pPr>
              <a:defRPr sz="2025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или электричеством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B4813-9B49-45E2-B1F4-D89AEC75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524250"/>
            <a:ext cx="3724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2850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Прогноз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00CFC-B2CC-46B7-8718-00C6167B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3667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Когда ждать восстановления</a:t>
            </a:r>
          </a:p>
          <a:p xmlns:a="http://schemas.openxmlformats.org/drawingml/2006/main">
            <a:pPr>
              <a:defRPr sz="2025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и кто обновил сведения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4CA31-A0F5-41AE-BD73-79C7B835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Информацию публикует УК. Прогноз может измениться.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D230B-63A4-4784-BCB3-EC195BF2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581650"/>
            <a:ext cx="7105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Фрагмент локального демо на вымышленных данных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C7185-A74B-47CA-B934-C35BDE5E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ДОМОВОЙ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C5021-6591-4A1E-AB93-DAC84E1F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303353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41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08061-0879-4C74-A599-E7ECDEC5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Следующий уровень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4D72C-0558-48ED-A2D4-1BAF0821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44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5175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Связь с городским</a:t>
            </a:r>
          </a:p>
          <a:p xmlns:a="http://schemas.openxmlformats.org/drawingml/2006/main">
            <a:pPr>
              <a:defRPr sz="5175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5175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диспетчером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1A4B1-9ABA-40B2-BDC1-50EBB105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DFB8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DDFB8B"/>
                </a:solidFill>
                <a:latin typeface="Noto Sans"/>
                <a:ea typeface="Noto Sans"/>
                <a:cs typeface="Noto Sans"/>
              </a:rPr>
              <a:t>Сейчас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633CE-C869-4F05-B7B0-C50CA0B3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24325"/>
            <a:ext cx="4905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Учебное приватное обращение</a:t>
            </a:r>
          </a:p>
          <a:p xmlns:a="http://schemas.openxmlformats.org/drawingml/2006/main">
            <a:pPr>
              <a:defRPr sz="2100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с историей статусов. Доступ</a:t>
            </a:r>
          </a:p>
          <a:p xmlns:a="http://schemas.openxmlformats.org/drawingml/2006/main">
            <a:pPr>
              <a:defRPr sz="2100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у автора и учебного диспетчера.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A98FE-1754-485B-901D-6D32FD93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47662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После согласования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143B9-AC2F-4A5A-8391-0FAE5B2C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124325"/>
            <a:ext cx="5238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Адаптер 112 / ЕДДС, официальный</a:t>
            </a:r>
          </a:p>
          <a:p xmlns:a="http://schemas.openxmlformats.org/drawingml/2006/main">
            <a:pPr>
              <a:defRPr sz="2100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источник статусов, регламент</a:t>
            </a:r>
          </a:p>
          <a:p xmlns:a="http://schemas.openxmlformats.org/drawingml/2006/main">
            <a:pPr>
              <a:defRPr sz="2100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обработки и защита данных.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4EB29-CA02-427F-ACFE-ECFFD624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24525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2BFF7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D2BFF7"/>
                </a:solidFill>
                <a:latin typeface="Noto Sans"/>
                <a:ea typeface="Noto Sans"/>
                <a:cs typeface="Noto Sans"/>
              </a:rPr>
              <a:t>112, полиция и МЧС не получают сообщения из прототипа.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1D17E-363B-442A-A62F-CC036A0C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ДОМОВОЙ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AD6C4-444B-419D-B4B3-79B95959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26998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2BE79-4EB1-429C-8027-F8F20CF1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3975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Два интерфейса. Одна база.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5006A-6366-412D-B983-6EC174DD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3975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MAX-бот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A5B68-23AE-4713-AF70-F4F1652E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5067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3975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Миниаппа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20810-AEF3-4FAB-B8D1-5C3F3811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670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700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Общий сервер проверяет роли и доступ к дому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09C26-679B-4CB1-AECE-99B60466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257675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DDFB8B"/>
                </a:solidFill>
                <a:latin typeface="Noto Sans"/>
                <a:ea typeface="Noto Sans"/>
                <a:cs typeface="Noto Sans"/>
              </a:defRPr>
            </a:pPr>
            <a:r>
              <a:rPr sz="5700" b="1">
                <a:solidFill>
                  <a:srgbClr val="DDFB8B"/>
                </a:solidFill>
                <a:latin typeface="Noto Sans"/>
                <a:ea typeface="Noto Sans"/>
                <a:cs typeface="Noto Sans"/>
              </a:rPr>
              <a:t>SQLite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28AF8-84D4-4AF3-895D-044E083B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33875"/>
            <a:ext cx="6534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Дома, участники, заявки, аварии,</a:t>
            </a:r>
          </a:p>
          <a:p xmlns:a="http://schemas.openxmlformats.org/drawingml/2006/main">
            <a:pPr>
              <a:defRPr sz="2250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комментарии и история изменений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21FBB-8400-4219-87E6-846B75A5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648325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Docker / HTTPS / резервные копии / повторная доставка уведомлений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B0D0E-4E57-45C4-BF61-9BEBC1AA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ДОМОВОЙ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CA161-9918-4819-A3A2-B7B1530D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37742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C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A59E7-3CB2-407E-A750-F642B0A5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4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3975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Масштабирование по домам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CC6AD-AE4F-45BF-8DBD-F50DC5B4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425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7425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1A285-40E5-4D19-8E68-198B0C57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Один дом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F77FD-CA7E-4DA8-89BC-B427EA8B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3381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Одна УК и диспетчер.</a:t>
            </a:r>
          </a:p>
          <a:p xmlns:a="http://schemas.openxmlformats.org/drawingml/2006/main">
            <a:pPr>
              <a:defRPr sz="1875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Жители входят по приглашению.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61CEF-CBD7-4616-8CA9-715B6BB4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47875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425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7425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F59DB-03AC-4C46-8B70-0B1765B1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576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Соседние дома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F20DF-FF0B-4D69-B0CF-8908E7EC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10075"/>
            <a:ext cx="3381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Те же сценарии и база.</a:t>
            </a:r>
          </a:p>
          <a:p xmlns:a="http://schemas.openxmlformats.org/drawingml/2006/main">
            <a:pPr>
              <a:defRPr sz="1875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Новые адреса и подъезды.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70870-3C60-4D84-9021-2DAB2268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425" b="1">
                <a:solidFill>
                  <a:srgbClr val="DDFB8B"/>
                </a:solidFill>
                <a:latin typeface="Noto Sans"/>
                <a:ea typeface="Noto Sans"/>
                <a:cs typeface="Noto Sans"/>
              </a:defRPr>
            </a:pPr>
            <a:r>
              <a:rPr sz="7425" b="1">
                <a:solidFill>
                  <a:srgbClr val="DDFB8B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ED1AE-0BF7-46EE-9725-BA825B5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576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Другие УК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5A71E-5BF5-48AA-9DE8-00E70F81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10075"/>
            <a:ext cx="3381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Нужны изоляция организаций</a:t>
            </a:r>
          </a:p>
          <a:p xmlns:a="http://schemas.openxmlformats.org/drawingml/2006/main">
            <a:pPr>
              <a:defRPr sz="1875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и настройки маршрутизации.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0B8E8-5478-4983-90DB-1DA470EB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ДОМОВОЙ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0F58A-59C9-4D8B-B3E6-46A0801F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46749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6942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64BF0-136D-496B-9928-6B02BB2A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4050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Пилот с одной УК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DDC47-D50C-4BF8-AB22-2125C1AF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5429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100" b="1">
                <a:solidFill>
                  <a:srgbClr val="DDFB8B"/>
                </a:solidFill>
                <a:latin typeface="Noto Sans"/>
                <a:ea typeface="Noto Sans"/>
                <a:cs typeface="Noto Sans"/>
              </a:defRPr>
            </a:pPr>
            <a:r>
              <a:rPr sz="11100" b="1">
                <a:solidFill>
                  <a:srgbClr val="DDFB8B"/>
                </a:solidFill>
                <a:latin typeface="Noto Sans"/>
                <a:ea typeface="Noto Sans"/>
                <a:cs typeface="Noto Sans"/>
              </a:rPr>
              <a:t>1–2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2A046-F6CC-4442-A7C7-2EFCB385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дома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4C84E-0A2A-457A-AAAD-DFA8C8F0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62150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625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Что проверяем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6D65D-D974-4A81-9089-AD297826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19400"/>
            <a:ext cx="5238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Время до первого ответа</a:t>
            </a:r>
          </a:p>
          <a:p xmlns:a="http://schemas.openxmlformats.org/drawingml/2006/main">
            <a:pPr>
              <a:defRPr sz="2325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Время до подтверждения</a:t>
            </a:r>
          </a:p>
          <a:p xmlns:a="http://schemas.openxmlformats.org/drawingml/2006/main">
            <a:pPr>
              <a:defRPr sz="2325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Возвраты в работу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ACB09-141F-4B78-AAEF-FA5CD5B7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743450"/>
            <a:ext cx="5191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7DCFF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E7DCFF"/>
                </a:solidFill>
                <a:latin typeface="Noto Sans"/>
                <a:ea typeface="Noto Sans"/>
                <a:cs typeface="Noto Sans"/>
              </a:rPr>
              <a:t>Сначала 3–5 интервью</a:t>
            </a:r>
          </a:p>
          <a:p xmlns:a="http://schemas.openxmlformats.org/drawingml/2006/main">
            <a:pPr>
              <a:defRPr sz="2100" b="0">
                <a:solidFill>
                  <a:srgbClr val="E7DCFF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E7DCFF"/>
                </a:solidFill>
                <a:latin typeface="Noto Sans"/>
                <a:ea typeface="Noto Sans"/>
                <a:cs typeface="Noto Sans"/>
              </a:rPr>
              <a:t>и замер текущего процесса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11D72-6D15-434A-8BB0-FC698193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8645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EE7F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EEE7FF"/>
                </a:solidFill>
                <a:latin typeface="Noto Sans"/>
                <a:ea typeface="Noto Sans"/>
                <a:cs typeface="Noto Sans"/>
              </a:rPr>
              <a:t>План проверки гипотез. Интервью и измерения ещё не проведены.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F967B-F5F0-4A97-87F3-42F31DDD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CB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D8CBFF"/>
                </a:solidFill>
                <a:latin typeface="Noto Sans"/>
                <a:ea typeface="Noto Sans"/>
                <a:cs typeface="Noto Sans"/>
              </a:rPr>
              <a:t>ДОМОВОЙ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543C0-6A6B-4720-88A0-3A5F1668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8CBFF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D8CBFF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241573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FE74B-2DE2-4B36-9387-A98D5053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11144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3975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Что уже проверено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2FB6E-5D46-4549-BABE-1D45E8E3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33813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825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6825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73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52F7D-B32B-44C5-8258-B97E6692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3419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Python-теста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2F2C5-86CF-4C8A-820F-C218E33E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52600"/>
            <a:ext cx="33813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825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6825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34163-3E94-45B5-82EE-A87E9710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105150"/>
            <a:ext cx="3419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JS-проверок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4B789-451A-4B93-89F9-A0E8348F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33813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825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6825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91079-CF61-47F3-949E-B65CA03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3419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операции HTTP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6E156-8249-4057-9DAC-7336429D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386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DFB8B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DDFB8B"/>
                </a:solidFill>
                <a:latin typeface="Noto Sans"/>
                <a:ea typeface="Noto Sans"/>
                <a:cs typeface="Noto Sans"/>
              </a:rPr>
              <a:t>В веб-MAX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466EA-191F-42EA-B556-0BFDCD05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667250"/>
            <a:ext cx="4981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Вход УК, создание дома</a:t>
            </a:r>
          </a:p>
          <a:p xmlns:a="http://schemas.openxmlformats.org/drawingml/2006/main">
            <a:pPr>
              <a:defRPr sz="1950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и сохранение после повторного входа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FA75B-210E-4842-870D-220725C0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Перед реальным пилотом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8CF28-010E-4DBF-8B1B-95EE3A0C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53149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Отдельный житель и мобильный MAX,</a:t>
            </a:r>
          </a:p>
          <a:p xmlns:a="http://schemas.openxmlformats.org/drawingml/2006/main">
            <a:pPr>
              <a:defRPr sz="1950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нагрузка и изоляция разных УК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D1475-833C-44AC-B16E-B86D017A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Госуслуги Дом и GigaChat не подключены. Подтверждения личности через ЕСИА нет.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24C83-ABEA-4B27-9CA4-D1300BAD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0ABBF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B0ABBF"/>
                </a:solidFill>
                <a:latin typeface="Noto Sans"/>
                <a:ea typeface="Noto Sans"/>
                <a:cs typeface="Noto Sans"/>
              </a:rPr>
              <a:t>Источники: кейс «Умный город», стр. 6–13; QA-REPORT.md; PRODUCT-VISION.md</a:t>
            </a:r>
          </a:p>
        </p:txBody>
      </p:sp>
    </p:spTree>
    <p:extLst>
      <p:ext uri="{BB962C8B-B14F-4D97-AF65-F5344CB8AC3E}">
        <p14:creationId xmlns:p14="http://schemas.microsoft.com/office/powerpoint/2010/main" val="2961121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0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03c6d24004a1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A4BB8-6E5F-401B-B501-CCDFF4C2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647700"/>
            <a:ext cx="7810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725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7725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Домовой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2B3A4-FB8D-4F88-A88D-E6946226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700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3375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Открыть в MAX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74294-8F86-4424-A0A0-47EB2687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71825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max.ru/t738_hakaton_max_bot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A4147-3FED-4CC5-8077-9A6DE7B3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domovoy-doma.ru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75D4A-F9C5-4574-B53F-10C1B172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7677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AD3E7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DAD3E7"/>
                </a:solidFill>
                <a:latin typeface="Noto Sans"/>
                <a:ea typeface="Noto Sans"/>
                <a:cs typeface="Noto Sans"/>
              </a:rPr>
              <a:t>Миниаппа открывается кнопкой в боте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0D977-B147-47CC-A2C5-56433E23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9AFF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B79AFF"/>
                </a:solidFill>
                <a:latin typeface="Noto Sans"/>
                <a:ea typeface="Noto Sans"/>
                <a:cs typeface="Noto Sans"/>
              </a:rPr>
              <a:t>salfetka5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F9650-87A6-4EF8-AFA1-8E300F7F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8572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5FF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F7F5FF"/>
                </a:solidFill>
                <a:latin typeface="Noto Sans"/>
                <a:ea typeface="Noto Sans"/>
                <a:cs typeface="Noto Sans"/>
              </a:rPr>
              <a:t>Фатькин Артем  /  Дзюбло Григорий</a:t>
            </a:r>
          </a:p>
        </p:txBody>
      </p:sp>
    </p:spTree>
    <p:extLst>
      <p:ext uri="{BB962C8B-B14F-4D97-AF65-F5344CB8AC3E}">
        <p14:creationId xmlns:p14="http://schemas.microsoft.com/office/powerpoint/2010/main" val="94052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2026-09-28T13:24:45.1010000Z</dcterms:created>
  <dcterms:modified xsi:type="dcterms:W3CDTF">2026-09-28T13:24:45.1010000Z</dcterms:modified>
</coreProperties>
</file>